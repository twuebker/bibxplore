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314" r:id="rId5"/>
    <p:sldId id="315" r:id="rId6"/>
    <p:sldId id="316" r:id="rId7"/>
    <p:sldId id="320" r:id="rId8"/>
    <p:sldId id="324" r:id="rId9"/>
    <p:sldId id="325" r:id="rId10"/>
    <p:sldId id="322" r:id="rId11"/>
    <p:sldId id="323" r:id="rId12"/>
    <p:sldId id="309" r:id="rId13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9B114-6945-4472-A7BB-EF34B211755D}" v="369" dt="2025-11-23T01:42:11.739"/>
    <p1510:client id="{15233ACA-D37F-4326-ABAE-930EA4E3D8C2}" v="145" dt="2025-11-23T03:27:58.564"/>
    <p1510:client id="{F3BCB41C-9EA2-4F00-B526-6AF48AED6978}" v="139" dt="2025-11-23T07:55:50.6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5" autoAdjust="0"/>
    <p:restoredTop sz="95388" autoAdjust="0"/>
  </p:normalViewPr>
  <p:slideViewPr>
    <p:cSldViewPr snapToGrid="0">
      <p:cViewPr varScale="1">
        <p:scale>
          <a:sx n="122" d="100"/>
          <a:sy n="122" d="100"/>
        </p:scale>
        <p:origin x="438" y="96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3774" y="3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D685FF6-60CF-4184-B868-A84120C35344}" type="datetime1">
              <a:rPr lang="de-DE" smtClean="0"/>
              <a:t>23.11.2025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BF9A36D-7FAC-478F-9944-F324014F6FD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9C31FFC9-40EA-46BD-8384-E804BA651737}" type="datetime1">
              <a:rPr lang="de-DE" smtClean="0"/>
              <a:t>23.11.2025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4B9A9E5-4F7F-4A7D-9DE1-899232329269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4B9A9E5-4F7F-4A7D-9DE1-899232329269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de-DE" sz="2000"/>
            </a:lvl1pPr>
            <a:lvl2pPr>
              <a:lnSpc>
                <a:spcPct val="120000"/>
              </a:lnSpc>
              <a:defRPr lang="de-DE" sz="1800"/>
            </a:lvl2pPr>
            <a:lvl3pPr>
              <a:lnSpc>
                <a:spcPct val="120000"/>
              </a:lnSpc>
              <a:defRPr lang="de-DE" sz="1600"/>
            </a:lvl3pPr>
            <a:lvl4pPr>
              <a:lnSpc>
                <a:spcPct val="120000"/>
              </a:lnSpc>
              <a:defRPr lang="de-DE" sz="1400"/>
            </a:lvl4pPr>
            <a:lvl5pPr>
              <a:lnSpc>
                <a:spcPct val="120000"/>
              </a:lnSpc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de-DE" sz="48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Klicken Sie, um ein Bild hinzuzufügen.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de-DE" sz="2000"/>
            </a:lvl1pPr>
            <a:lvl2pPr marL="457200" indent="0">
              <a:buNone/>
              <a:defRPr lang="de-DE" sz="1800"/>
            </a:lvl2pPr>
            <a:lvl3pPr marL="914400" indent="0">
              <a:buNone/>
              <a:defRPr lang="de-DE" sz="1600"/>
            </a:lvl3pPr>
            <a:lvl4pPr marL="1371600" indent="0">
              <a:buNone/>
              <a:defRPr lang="de-DE" sz="1400"/>
            </a:lvl4pPr>
            <a:lvl5pPr marL="1828800" indent="0"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linke Abbildung 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de-DE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 Sie, um ein Bild hinzuzufügen.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/>
            </a:lvl1pPr>
            <a:lvl2pPr>
              <a:spcBef>
                <a:spcPts val="0"/>
              </a:spcBef>
              <a:spcAft>
                <a:spcPts val="1200"/>
              </a:spcAft>
              <a:defRPr lang="de-DE" sz="1800"/>
            </a:lvl2pPr>
            <a:lvl3pPr>
              <a:spcBef>
                <a:spcPts val="0"/>
              </a:spcBef>
              <a:spcAft>
                <a:spcPts val="1200"/>
              </a:spcAft>
              <a:defRPr lang="de-DE" sz="1600"/>
            </a:lvl3pPr>
            <a:lvl4pPr>
              <a:spcBef>
                <a:spcPts val="0"/>
              </a:spcBef>
              <a:spcAft>
                <a:spcPts val="1200"/>
              </a:spcAft>
              <a:defRPr lang="de-DE" sz="1400"/>
            </a:lvl4pPr>
            <a:lvl5pPr>
              <a:spcBef>
                <a:spcPts val="0"/>
              </a:spcBef>
              <a:spcAft>
                <a:spcPts val="1200"/>
              </a:spcAft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rechtes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de-DE" sz="2000"/>
            </a:lvl1pPr>
          </a:lstStyle>
          <a:p>
            <a:pPr rtl="0"/>
            <a:r>
              <a:rPr lang="de-DE"/>
              <a:t>Klicken Sie, um ein Bild hinzuzufügen.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Tabell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 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9" name="Grafik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0"/>
            </a:lvl1pPr>
            <a:lvl2pPr>
              <a:spcBef>
                <a:spcPts val="0"/>
              </a:spcBef>
              <a:spcAft>
                <a:spcPts val="1200"/>
              </a:spcAft>
              <a:defRPr lang="de-DE" sz="1800" b="0"/>
            </a:lvl2pPr>
            <a:lvl3pPr>
              <a:spcBef>
                <a:spcPts val="0"/>
              </a:spcBef>
              <a:spcAft>
                <a:spcPts val="1200"/>
              </a:spcAft>
              <a:defRPr lang="de-DE" sz="1600" b="0"/>
            </a:lvl3pPr>
            <a:lvl4pPr>
              <a:spcBef>
                <a:spcPts val="0"/>
              </a:spcBef>
              <a:spcAft>
                <a:spcPts val="1200"/>
              </a:spcAft>
              <a:defRPr lang="de-DE" sz="1400" b="0"/>
            </a:lvl4pPr>
            <a:lvl5pPr>
              <a:spcBef>
                <a:spcPts val="0"/>
              </a:spcBef>
              <a:spcAft>
                <a:spcPts val="1200"/>
              </a:spcAft>
              <a:defRPr lang="de-DE" sz="14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3" name="Tabellenplatzhalter 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de-DE" sz="2000"/>
            </a:lvl1pPr>
          </a:lstStyle>
          <a:p>
            <a:pPr rtl="0"/>
            <a:r>
              <a:rPr lang="de-DE"/>
              <a:t>Tabelle durch Klicken auf das Symbol einzufügen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 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de-DE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de-DE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de-DE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de-DE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de-DE" sz="1600" b="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de-DE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de-DE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de-DE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de-DE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de-DE" sz="1400" b="1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Tabellenplatzhalter 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de-DE" sz="2400"/>
            </a:lvl1pPr>
          </a:lstStyle>
          <a:p>
            <a:pPr rtl="0"/>
            <a:r>
              <a:rPr lang="de-DE"/>
              <a:t>Klicken Sie zum Hinzufügen der Tabelle auf das Symbol.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de-DE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de-DE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de-DE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Inhalt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2" name="Grafik 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Verkaufspräsentation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 dirty="0" err="1"/>
              <a:t>Bibxplore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D4741-790F-60CB-F6A2-AD0DEE69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 </a:t>
            </a:r>
            <a:r>
              <a:rPr lang="de-DE" dirty="0" err="1"/>
              <a:t>of</a:t>
            </a:r>
            <a:r>
              <a:rPr lang="de-DE" dirty="0"/>
              <a:t> Book Discovery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86E6E0-1C8A-292D-1486-83EDE4FC76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Problem 1: Search </a:t>
            </a:r>
            <a:r>
              <a:rPr lang="de-DE" dirty="0" err="1"/>
              <a:t>masks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complicated</a:t>
            </a:r>
            <a:endParaRPr lang="de-DE" dirty="0"/>
          </a:p>
          <a:p>
            <a:r>
              <a:rPr lang="de-DE" dirty="0"/>
              <a:t>Problem 2: Can not </a:t>
            </a: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descriptions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74295C-798E-7D3D-BF1D-4A85496C0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013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6DDB6-EABA-BBF6-6105-3C3181B6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4024"/>
            <a:ext cx="10364445" cy="1646555"/>
          </a:xfrm>
        </p:spPr>
        <p:txBody>
          <a:bodyPr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3C4CEE-900F-161B-ED24-47E931017C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7E8299-76E4-1D99-690E-1FECECE02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3</a:t>
            </a:fld>
            <a:endParaRPr lang="de-DE" dirty="0"/>
          </a:p>
        </p:txBody>
      </p:sp>
      <p:pic>
        <p:nvPicPr>
          <p:cNvPr id="5" name="BibXPloreReveal">
            <a:hlinkClick r:id="" action="ppaction://media"/>
            <a:extLst>
              <a:ext uri="{FF2B5EF4-FFF2-40B4-BE49-F238E27FC236}">
                <a16:creationId xmlns:a16="http://schemas.microsoft.com/office/drawing/2014/main" id="{5CBC33ED-952E-CD43-6A39-CB59C31CCF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7749" y="272317"/>
            <a:ext cx="11234084" cy="631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5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CD73-1B63-94ED-98D5-8FD46CE3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D168E-22C7-296A-39E6-55BCCC9A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22" y="338"/>
            <a:ext cx="12186103" cy="1646555"/>
          </a:xfrm>
        </p:spPr>
        <p:txBody>
          <a:bodyPr/>
          <a:lstStyle/>
          <a:p>
            <a:pPr algn="ctr"/>
            <a:r>
              <a:rPr lang="de-DE" err="1"/>
              <a:t>SOlution</a:t>
            </a:r>
            <a:r>
              <a:rPr lang="de-DE" dirty="0"/>
              <a:t> 1: Text-</a:t>
            </a:r>
            <a:r>
              <a:rPr lang="de-DE" err="1"/>
              <a:t>to</a:t>
            </a:r>
            <a:r>
              <a:rPr lang="de-DE" dirty="0"/>
              <a:t>-</a:t>
            </a:r>
            <a:r>
              <a:rPr lang="de-DE" err="1"/>
              <a:t>sql</a:t>
            </a:r>
            <a:endParaRPr lang="en-US" err="1"/>
          </a:p>
        </p:txBody>
      </p:sp>
      <p:pic>
        <p:nvPicPr>
          <p:cNvPr id="8" name="Inhaltsplatzhalter 7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505DF06-04C9-EEB1-E451-EC882515259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643974" y="1300633"/>
            <a:ext cx="8894914" cy="5212429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63AF22-423E-470F-CD71-8C8CFD3B7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7366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4972D-D321-1EAB-DF73-882A0E53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866022-4E25-4B33-3BC7-3AFCB6A4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22" y="338"/>
            <a:ext cx="12186103" cy="1646555"/>
          </a:xfrm>
        </p:spPr>
        <p:txBody>
          <a:bodyPr/>
          <a:lstStyle/>
          <a:p>
            <a:pPr algn="ctr"/>
            <a:r>
              <a:rPr lang="de-DE" dirty="0" err="1"/>
              <a:t>SOlution</a:t>
            </a:r>
            <a:r>
              <a:rPr lang="de-DE" dirty="0"/>
              <a:t> 2: Intelligent Search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5A682C-9E25-134B-6F08-860B3B319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5</a:t>
            </a:fld>
            <a:endParaRPr lang="de-DE" dirty="0"/>
          </a:p>
        </p:txBody>
      </p:sp>
      <p:pic>
        <p:nvPicPr>
          <p:cNvPr id="7" name="Grafik 6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6EA112AE-7D64-3B1A-31F3-8250E8B2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00" y="1302054"/>
            <a:ext cx="8847401" cy="5237829"/>
          </a:xfrm>
          <a:prstGeom prst="rect">
            <a:avLst/>
          </a:prstGeom>
        </p:spPr>
      </p:pic>
      <p:pic>
        <p:nvPicPr>
          <p:cNvPr id="11" name="Grafik 10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EC6568B8-6667-BB85-C59A-796B855C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061" y="1305034"/>
            <a:ext cx="8979120" cy="523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28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B2739-DD0C-C906-6320-EFE0CC6E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323EFF-6AB0-0AC4-C0AF-C9495739D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22" y="338"/>
            <a:ext cx="12186103" cy="1646555"/>
          </a:xfrm>
        </p:spPr>
        <p:txBody>
          <a:bodyPr/>
          <a:lstStyle/>
          <a:p>
            <a:pPr algn="ctr"/>
            <a:r>
              <a:rPr lang="de-DE" dirty="0"/>
              <a:t>Both </a:t>
            </a:r>
            <a:r>
              <a:rPr lang="de-DE" dirty="0" err="1"/>
              <a:t>together</a:t>
            </a:r>
          </a:p>
        </p:txBody>
      </p:sp>
      <p:pic>
        <p:nvPicPr>
          <p:cNvPr id="8" name="Inhaltsplatzhalter 7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0FA58183-0EA7-5AE4-11C0-1B8D1280675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643974" y="1300633"/>
            <a:ext cx="8894914" cy="5212429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C507DB-B490-F4CC-932E-3907B7F4F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6</a:t>
            </a:fld>
            <a:endParaRPr lang="de-DE" dirty="0"/>
          </a:p>
        </p:txBody>
      </p:sp>
      <p:pic>
        <p:nvPicPr>
          <p:cNvPr id="3" name="Grafik 2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CA201725-8B78-175D-0FCC-98B59B2CA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130" y="1322550"/>
            <a:ext cx="8830223" cy="5220140"/>
          </a:xfrm>
          <a:prstGeom prst="rect">
            <a:avLst/>
          </a:prstGeom>
        </p:spPr>
      </p:pic>
      <p:pic>
        <p:nvPicPr>
          <p:cNvPr id="4" name="Grafik 3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380CEF17-2D51-AF74-B7D4-ED8776A82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130" y="1331311"/>
            <a:ext cx="8874016" cy="521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63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E8DB2-4FFC-5007-D608-BB165A9E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Speed at </a:t>
            </a:r>
            <a:r>
              <a:rPr lang="de-DE" dirty="0" err="1"/>
              <a:t>scale</a:t>
            </a:r>
          </a:p>
        </p:txBody>
      </p:sp>
      <p:sp>
        <p:nvSpPr>
          <p:cNvPr id="3" name="Tabellenplatzhalter 2">
            <a:extLst>
              <a:ext uri="{FF2B5EF4-FFF2-40B4-BE49-F238E27FC236}">
                <a16:creationId xmlns:a16="http://schemas.microsoft.com/office/drawing/2014/main" id="{3927350D-0514-2C68-FC25-A89FD789843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Still fast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size</a:t>
            </a:r>
            <a:endParaRPr lang="de-DE" dirty="0"/>
          </a:p>
          <a:p>
            <a:r>
              <a:rPr lang="de-DE" dirty="0"/>
              <a:t>Via </a:t>
            </a:r>
            <a:r>
              <a:rPr lang="de-DE" dirty="0" err="1"/>
              <a:t>cutting-edge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indexing</a:t>
            </a:r>
            <a:r>
              <a:rPr lang="de-DE" dirty="0"/>
              <a:t> </a:t>
            </a:r>
            <a:r>
              <a:rPr lang="de-DE" dirty="0" err="1"/>
              <a:t>technology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CCF578-80FA-D914-7374-26FCBBBD4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328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8B0ABE-FFF5-67B6-BF34-EE9FB38C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...</a:t>
            </a:r>
          </a:p>
        </p:txBody>
      </p:sp>
      <p:sp>
        <p:nvSpPr>
          <p:cNvPr id="3" name="Tabellenplatzhalter 2">
            <a:extLst>
              <a:ext uri="{FF2B5EF4-FFF2-40B4-BE49-F238E27FC236}">
                <a16:creationId xmlns:a16="http://schemas.microsoft.com/office/drawing/2014/main" id="{A85246AD-A2EA-6676-D0A5-03FCE589BE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Simple</a:t>
            </a:r>
          </a:p>
          <a:p>
            <a:r>
              <a:rPr lang="de-DE" dirty="0"/>
              <a:t>Fast</a:t>
            </a:r>
          </a:p>
          <a:p>
            <a:r>
              <a:rPr lang="de-DE" dirty="0"/>
              <a:t>Intelligent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68DA59-A285-C908-3D0F-F3A5AD7CC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smtClean="0"/>
              <a:pPr rtl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538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 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501</Words>
  <Application>Microsoft Office PowerPoint</Application>
  <PresentationFormat>Breitbild</PresentationFormat>
  <Paragraphs>125</Paragraphs>
  <Slides>9</Slides>
  <Notes>2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Benutzerdefiniert</vt:lpstr>
      <vt:lpstr>Bibxplore</vt:lpstr>
      <vt:lpstr>Problems of Book Discovery</vt:lpstr>
      <vt:lpstr>PowerPoint-Präsentation</vt:lpstr>
      <vt:lpstr>SOlution 1: Text-to-sql</vt:lpstr>
      <vt:lpstr>SOlution 2: Intelligent Search</vt:lpstr>
      <vt:lpstr>Both together</vt:lpstr>
      <vt:lpstr>Speed at scale</vt:lpstr>
      <vt:lpstr>Our system is...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244</cp:revision>
  <dcterms:created xsi:type="dcterms:W3CDTF">2025-11-23T00:55:36Z</dcterms:created>
  <dcterms:modified xsi:type="dcterms:W3CDTF">2025-11-23T08:56:45Z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